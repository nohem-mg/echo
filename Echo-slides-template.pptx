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1051560"/>
            <a:ext cx="4754880" cy="4754880"/>
          </a:xfrm>
          <a:prstGeom prst="ellipse">
            <a:avLst/>
          </a:prstGeom>
          <a:solidFill>
            <a:srgbClr val="121212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38236" y="1574596"/>
            <a:ext cx="3708806" cy="3708806"/>
          </a:xfrm>
          <a:prstGeom prst="ellipse">
            <a:avLst/>
          </a:prstGeom>
          <a:solidFill>
            <a:srgbClr val="050505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18627" y="1954987"/>
            <a:ext cx="2948025" cy="2948025"/>
          </a:xfrm>
          <a:prstGeom prst="ellipse">
            <a:avLst/>
          </a:prstGeom>
          <a:solidFill>
            <a:srgbClr val="121212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9017" y="2335377"/>
            <a:ext cx="2187244" cy="2187244"/>
          </a:xfrm>
          <a:prstGeom prst="ellipse">
            <a:avLst/>
          </a:prstGeom>
          <a:solidFill>
            <a:srgbClr val="050505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79408" y="2715768"/>
            <a:ext cx="1426464" cy="1426464"/>
          </a:xfrm>
          <a:prstGeom prst="ellipse">
            <a:avLst/>
          </a:prstGeom>
          <a:solidFill>
            <a:srgbClr val="F59ABD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49993" y="3286353"/>
            <a:ext cx="285292" cy="285292"/>
          </a:xfrm>
          <a:prstGeom prst="ellipse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91440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5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50505"/>
                </a:solidFill>
                <a:latin typeface="Space Grotesk"/>
              </a:rPr>
              <a:t>MUSIC LICENSING · ONCHAIN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7772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600" b="1" i="0">
                <a:solidFill>
                  <a:srgbClr val="F8F6EE"/>
                </a:solidFill>
                <a:latin typeface="Space Grotesk"/>
              </a:rPr>
              <a:t>Presentation</a:t>
            </a:r>
          </a:p>
          <a:p>
            <a:pPr algn="l">
              <a:lnSpc>
                <a:spcPct val="95000"/>
              </a:lnSpc>
            </a:pPr>
            <a:r>
              <a:rPr sz="6600" b="1" i="0">
                <a:solidFill>
                  <a:srgbClr val="F8F6EE"/>
                </a:solidFill>
                <a:latin typeface="Space Grotesk"/>
              </a:rPr>
              <a:t>Title Goes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F59ABD"/>
                </a:solidFill>
                <a:latin typeface="Instrument Serif"/>
              </a:rPr>
              <a:t>A short, punchy subtitle in serif for contrast.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5120640"/>
            <a:ext cx="2011680" cy="38100"/>
          </a:xfrm>
          <a:prstGeom prst="rect">
            <a:avLst/>
          </a:prstGeom>
          <a:solidFill>
            <a:srgbClr val="9EF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880"/>
                </a:solidFill>
                <a:latin typeface="Space Grotesk"/>
              </a:rPr>
              <a:t>Presenter Name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9EF7C9"/>
                </a:solidFill>
                <a:latin typeface="Space Grotesk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46120"/>
            <a:ext cx="1463040" cy="38100"/>
          </a:xfrm>
          <a:prstGeom prst="rect">
            <a:avLst/>
          </a:prstGeom>
          <a:solidFill>
            <a:srgbClr val="F5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8F6EE"/>
                </a:solidFill>
                <a:latin typeface="Space Grotesk"/>
              </a:rPr>
              <a:t>Section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A8880"/>
                </a:solidFill>
                <a:latin typeface="Space Grotesk"/>
              </a:rPr>
              <a:t>One line describing what this section covers.</a:t>
            </a:r>
          </a:p>
        </p:txBody>
      </p:sp>
      <p:sp>
        <p:nvSpPr>
          <p:cNvPr id="7" name="Oval 6"/>
          <p:cNvSpPr/>
          <p:nvPr/>
        </p:nvSpPr>
        <p:spPr>
          <a:xfrm>
            <a:off x="9235440" y="91440"/>
            <a:ext cx="2377440" cy="2377440"/>
          </a:xfrm>
          <a:prstGeom prst="ellipse">
            <a:avLst/>
          </a:prstGeom>
          <a:solidFill>
            <a:srgbClr val="121212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96958" y="352958"/>
            <a:ext cx="1854403" cy="1854403"/>
          </a:xfrm>
          <a:prstGeom prst="ellipse">
            <a:avLst/>
          </a:prstGeom>
          <a:solidFill>
            <a:srgbClr val="050505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87153" y="543153"/>
            <a:ext cx="1474012" cy="1474012"/>
          </a:xfrm>
          <a:prstGeom prst="ellipse">
            <a:avLst/>
          </a:prstGeom>
          <a:solidFill>
            <a:srgbClr val="121212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7348" y="733348"/>
            <a:ext cx="1093622" cy="1093622"/>
          </a:xfrm>
          <a:prstGeom prst="ellipse">
            <a:avLst/>
          </a:prstGeom>
          <a:solidFill>
            <a:srgbClr val="050505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67544" y="923544"/>
            <a:ext cx="713232" cy="713232"/>
          </a:xfrm>
          <a:prstGeom prst="ellipse">
            <a:avLst/>
          </a:prstGeom>
          <a:solidFill>
            <a:srgbClr val="9EF7C9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2836" y="1208836"/>
            <a:ext cx="142646" cy="142646"/>
          </a:xfrm>
          <a:prstGeom prst="ellipse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8880"/>
                </a:solidFill>
                <a:latin typeface="Space Grotesk"/>
              </a:rPr>
              <a:t>ECHO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00800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8880"/>
                </a:solidFill>
                <a:latin typeface="Space Grotesk"/>
              </a:rPr>
              <a:t>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548640" cy="384048"/>
          </a:xfrm>
          <a:prstGeom prst="roundRect">
            <a:avLst>
              <a:gd name="adj" fmla="val 50000"/>
            </a:avLst>
          </a:prstGeom>
          <a:solidFill>
            <a:srgbClr val="8F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50505"/>
                </a:solidFill>
                <a:latin typeface="Space Grotesk"/>
              </a:rPr>
              <a:t>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F6EE"/>
                </a:solidFill>
                <a:latin typeface="Space Grotesk"/>
              </a:rPr>
              <a:t>Content Slide Heading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148840"/>
            <a:ext cx="1828800" cy="38100"/>
          </a:xfrm>
          <a:prstGeom prst="rect">
            <a:avLst/>
          </a:prstGeom>
          <a:solidFill>
            <a:srgbClr val="F5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761488"/>
            <a:ext cx="164592" cy="164592"/>
          </a:xfrm>
          <a:prstGeom prst="ellipse">
            <a:avLst/>
          </a:prstGeom>
          <a:solidFill>
            <a:srgbClr val="F5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5176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8F6EE"/>
                </a:solidFill>
                <a:latin typeface="Space Grotesk"/>
              </a:rPr>
              <a:t>Lead point in bold cream text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538728"/>
            <a:ext cx="164592" cy="164592"/>
          </a:xfrm>
          <a:prstGeom prst="ellipse">
            <a:avLst/>
          </a:prstGeom>
          <a:solidFill>
            <a:srgbClr val="9EF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4290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8F6EE"/>
                </a:solidFill>
                <a:latin typeface="Space Grotesk"/>
              </a:rPr>
              <a:t>Supporting detail with a calm muted tone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315968"/>
            <a:ext cx="164592" cy="164592"/>
          </a:xfrm>
          <a:prstGeom prst="ellipse">
            <a:avLst/>
          </a:prstGeom>
          <a:solidFill>
            <a:srgbClr val="8F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20624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8F6EE"/>
                </a:solidFill>
                <a:latin typeface="Space Grotesk"/>
              </a:rPr>
              <a:t>Another idea worth highlighting here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093207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983479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8F6EE"/>
                </a:solidFill>
                <a:latin typeface="Space Grotesk"/>
              </a:rPr>
              <a:t>Closing takeaway for the slide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8880"/>
                </a:solidFill>
                <a:latin typeface="Space Grotesk"/>
              </a:rPr>
              <a:t>ECHO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00800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8880"/>
                </a:solidFill>
                <a:latin typeface="Space Grotesk"/>
              </a:rPr>
              <a:t>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8F6EE"/>
                </a:solidFill>
                <a:latin typeface="Space Grotesk"/>
              </a:rPr>
              <a:t>Two-Column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828800" cy="38100"/>
          </a:xfrm>
          <a:prstGeom prst="rect">
            <a:avLst/>
          </a:prstGeom>
          <a:solidFill>
            <a:srgbClr val="9EF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9050">
            <a:solidFill>
              <a:srgbClr val="F59A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42316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59ABD"/>
                </a:solidFill>
                <a:latin typeface="Space Grotesk"/>
              </a:rPr>
              <a:t>Option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0040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8F6EE"/>
                </a:solidFill>
                <a:latin typeface="Space Grotesk"/>
              </a:rPr>
              <a:t>— First attribute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6732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8F6EE"/>
                </a:solidFill>
                <a:latin typeface="Space Grotesk"/>
              </a:rPr>
              <a:t>— Second attribute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33425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8F6EE"/>
                </a:solidFill>
                <a:latin typeface="Space Grotesk"/>
              </a:rPr>
              <a:t>— Third attribute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9050">
            <a:solidFill>
              <a:srgbClr val="9EF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2316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9EF7C9"/>
                </a:solidFill>
                <a:latin typeface="Space Grotesk"/>
              </a:rPr>
              <a:t>Option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0040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8F6EE"/>
                </a:solidFill>
                <a:latin typeface="Space Grotesk"/>
              </a:rPr>
              <a:t>— First attribute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6732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8F6EE"/>
                </a:solidFill>
                <a:latin typeface="Space Grotesk"/>
              </a:rPr>
              <a:t>— Second attribute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33425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8F6EE"/>
                </a:solidFill>
                <a:latin typeface="Space Grotesk"/>
              </a:rPr>
              <a:t>— Third attribute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8880"/>
                </a:solidFill>
                <a:latin typeface="Space Grotesk"/>
              </a:rPr>
              <a:t>ECHO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00800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8880"/>
                </a:solidFill>
                <a:latin typeface="Space Grotesk"/>
              </a:rPr>
              <a:t>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50505"/>
                </a:solidFill>
                <a:latin typeface="Space Grotesk"/>
              </a:rPr>
              <a:t>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9EF7C9"/>
                </a:solidFill>
                <a:latin typeface="Space Grotesk"/>
              </a:rPr>
              <a:t>92%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F8F6EE"/>
                </a:solidFill>
                <a:latin typeface="Space Grotesk"/>
              </a:rPr>
              <a:t>Describe the metric and why it matters</a:t>
            </a:r>
          </a:p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F8F6EE"/>
                </a:solidFill>
                <a:latin typeface="Space Grotesk"/>
              </a:rPr>
              <a:t>in one or two short lines.</a:t>
            </a:r>
          </a:p>
        </p:txBody>
      </p:sp>
      <p:sp>
        <p:nvSpPr>
          <p:cNvPr id="6" name="Oval 5"/>
          <p:cNvSpPr/>
          <p:nvPr/>
        </p:nvSpPr>
        <p:spPr>
          <a:xfrm>
            <a:off x="8321040" y="1371600"/>
            <a:ext cx="3474720" cy="3474720"/>
          </a:xfrm>
          <a:prstGeom prst="ellipse">
            <a:avLst/>
          </a:prstGeom>
          <a:solidFill>
            <a:srgbClr val="121212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03259" y="1753819"/>
            <a:ext cx="2710281" cy="2710281"/>
          </a:xfrm>
          <a:prstGeom prst="ellipse">
            <a:avLst/>
          </a:prstGeom>
          <a:solidFill>
            <a:srgbClr val="050505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81236" y="2031796"/>
            <a:ext cx="2154326" cy="2154326"/>
          </a:xfrm>
          <a:prstGeom prst="ellipse">
            <a:avLst/>
          </a:prstGeom>
          <a:solidFill>
            <a:srgbClr val="121212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59214" y="2309774"/>
            <a:ext cx="1598371" cy="1598371"/>
          </a:xfrm>
          <a:prstGeom prst="ellipse">
            <a:avLst/>
          </a:prstGeom>
          <a:solidFill>
            <a:srgbClr val="050505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37192" y="2587752"/>
            <a:ext cx="1042416" cy="1042416"/>
          </a:xfrm>
          <a:prstGeom prst="ellipse">
            <a:avLst/>
          </a:prstGeom>
          <a:solidFill>
            <a:srgbClr val="FFD166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54158" y="3004718"/>
            <a:ext cx="208483" cy="208483"/>
          </a:xfrm>
          <a:prstGeom prst="ellipse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8880"/>
                </a:solidFill>
                <a:latin typeface="Space Grotesk"/>
              </a:rPr>
              <a:t>ECHO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00800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8880"/>
                </a:solidFill>
                <a:latin typeface="Space Grotesk"/>
              </a:rPr>
              <a:t>Metric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0" b="0" i="0">
                <a:solidFill>
                  <a:srgbClr val="F59ABD"/>
                </a:solidFill>
                <a:latin typeface="Instrument Serif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1">
                <a:solidFill>
                  <a:srgbClr val="F8F6EE"/>
                </a:solidFill>
                <a:latin typeface="Instrument Serif"/>
              </a:rPr>
              <a:t>A memorable quote sits here in elegant</a:t>
            </a:r>
          </a:p>
          <a:p>
            <a:pPr algn="l">
              <a:lnSpc>
                <a:spcPct val="105000"/>
              </a:lnSpc>
            </a:pPr>
            <a:r>
              <a:rPr sz="3600" b="0" i="1">
                <a:solidFill>
                  <a:srgbClr val="F8F6EE"/>
                </a:solidFill>
                <a:latin typeface="Instrument Serif"/>
              </a:rPr>
              <a:t>serif, large enough to command the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4937760"/>
            <a:ext cx="1097280" cy="38100"/>
          </a:xfrm>
          <a:prstGeom prst="rect">
            <a:avLst/>
          </a:prstGeom>
          <a:solidFill>
            <a:srgbClr val="9EF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51206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8A8880"/>
                </a:solidFill>
                <a:latin typeface="Space Grotesk"/>
              </a:rPr>
              <a:t>— Attribution,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8880"/>
                </a:solidFill>
                <a:latin typeface="Space Grotesk"/>
              </a:rPr>
              <a:t>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8880"/>
                </a:solidFill>
                <a:latin typeface="Space Grotesk"/>
              </a:rPr>
              <a:t>Quote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35424" y="1188720"/>
            <a:ext cx="3108960" cy="3108960"/>
          </a:xfrm>
          <a:prstGeom prst="ellipse">
            <a:avLst/>
          </a:prstGeom>
          <a:solidFill>
            <a:srgbClr val="121212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77409" y="1530705"/>
            <a:ext cx="2424988" cy="2424988"/>
          </a:xfrm>
          <a:prstGeom prst="ellipse">
            <a:avLst/>
          </a:prstGeom>
          <a:solidFill>
            <a:srgbClr val="050505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6126" y="1779422"/>
            <a:ext cx="1927555" cy="1927555"/>
          </a:xfrm>
          <a:prstGeom prst="ellipse">
            <a:avLst/>
          </a:prstGeom>
          <a:solidFill>
            <a:srgbClr val="121212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74843" y="2028139"/>
            <a:ext cx="1430121" cy="1430121"/>
          </a:xfrm>
          <a:prstGeom prst="ellipse">
            <a:avLst/>
          </a:prstGeom>
          <a:solidFill>
            <a:srgbClr val="050505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23560" y="2276856"/>
            <a:ext cx="932688" cy="932688"/>
          </a:xfrm>
          <a:prstGeom prst="ellipse">
            <a:avLst/>
          </a:prstGeom>
          <a:solidFill>
            <a:srgbClr val="F59ABD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96635" y="2649931"/>
            <a:ext cx="186537" cy="186537"/>
          </a:xfrm>
          <a:prstGeom prst="ellipse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8F6EE"/>
                </a:solidFill>
                <a:latin typeface="Space Grotesk"/>
              </a:rPr>
              <a:t>Thanks.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9EF7C9"/>
                </a:solidFill>
                <a:latin typeface="Space Grotesk"/>
              </a:rPr>
              <a:t>your@email.com   ·   echo.xyz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A8880"/>
                </a:solidFill>
                <a:latin typeface="Permanent Marker"/>
              </a:rPr>
              <a:t>made with the echo brand kit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9EF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50505"/>
                </a:solidFill>
                <a:latin typeface="Space Grotesk"/>
              </a:rPr>
              <a:t>BEHIND THE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8F6EE"/>
                </a:solidFill>
                <a:latin typeface="Space Grotesk"/>
              </a:rPr>
              <a:t>What runs in the CRE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8880"/>
                </a:solidFill>
                <a:latin typeface="Space Grotesk"/>
              </a:rPr>
              <a:t>An agent never sees raw audio in the clear — sensitive steps run inside a TEE (Confidential HTTP).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2542032" cy="2468880"/>
          </a:xfrm>
          <a:prstGeom prst="roundRect">
            <a:avLst>
              <a:gd name="adj" fmla="val 7000"/>
            </a:avLst>
          </a:prstGeom>
          <a:solidFill>
            <a:srgbClr val="121212"/>
          </a:solidFill>
          <a:ln w="19050">
            <a:solidFill>
              <a:srgbClr val="F59A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70632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9ABD"/>
                </a:solidFill>
                <a:latin typeface="Space Grotes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46120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 i="0">
                <a:solidFill>
                  <a:srgbClr val="F8F6EE"/>
                </a:solidFill>
                <a:latin typeface="Space Grotesk"/>
              </a:rPr>
              <a:t>HTTP trigger</a:t>
            </a:r>
          </a:p>
          <a:p>
            <a:pPr algn="ctr">
              <a:lnSpc>
                <a:spcPct val="95000"/>
              </a:lnSpc>
            </a:pPr>
            <a:r>
              <a:rPr sz="1900" b="1" i="0">
                <a:solidFill>
                  <a:srgbClr val="F8F6EE"/>
                </a:solidFill>
                <a:latin typeface="Space Grotesk"/>
              </a:rPr>
              <a:t>· AgentKit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8880"/>
                </a:solidFill>
                <a:latin typeface="Space Grotesk"/>
              </a:rPr>
              <a:t>AgentKit / x402 request kicks off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8880"/>
                </a:solidFill>
                <a:latin typeface="Space Grotesk"/>
              </a:rPr>
              <a:t>the workflow with a paid call.</a:t>
            </a:r>
          </a:p>
        </p:txBody>
      </p:sp>
      <p:sp>
        <p:nvSpPr>
          <p:cNvPr id="10" name="Chevron 9"/>
          <p:cNvSpPr/>
          <p:nvPr/>
        </p:nvSpPr>
        <p:spPr>
          <a:xfrm>
            <a:off x="3255264" y="3694176"/>
            <a:ext cx="201168" cy="292608"/>
          </a:xfrm>
          <a:prstGeom prst="chevron">
            <a:avLst/>
          </a:prstGeom>
          <a:solidFill>
            <a:srgbClr val="F5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38144" y="2606040"/>
            <a:ext cx="2542032" cy="2468880"/>
          </a:xfrm>
          <a:prstGeom prst="roundRect">
            <a:avLst>
              <a:gd name="adj" fmla="val 7000"/>
            </a:avLst>
          </a:prstGeom>
          <a:solidFill>
            <a:srgbClr val="121212"/>
          </a:solidFill>
          <a:ln w="19050">
            <a:solidFill>
              <a:srgbClr val="8F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2770632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8FD5FF"/>
                </a:solidFill>
                <a:latin typeface="Space Grotes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3246120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 i="0">
                <a:solidFill>
                  <a:srgbClr val="F8F6EE"/>
                </a:solidFill>
                <a:latin typeface="Space Grotesk"/>
              </a:rPr>
              <a:t>BasicPitch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4114800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8880"/>
                </a:solidFill>
                <a:latin typeface="Space Grotesk"/>
              </a:rPr>
              <a:t>Raw audio → MIDI conversion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8880"/>
                </a:solidFill>
                <a:latin typeface="Space Grotesk"/>
              </a:rPr>
              <a:t>inside the TEE. Audio never leaks.</a:t>
            </a:r>
          </a:p>
        </p:txBody>
      </p:sp>
      <p:sp>
        <p:nvSpPr>
          <p:cNvPr id="15" name="Chevron 14"/>
          <p:cNvSpPr/>
          <p:nvPr/>
        </p:nvSpPr>
        <p:spPr>
          <a:xfrm>
            <a:off x="5961888" y="3694176"/>
            <a:ext cx="201168" cy="292608"/>
          </a:xfrm>
          <a:prstGeom prst="chevron">
            <a:avLst/>
          </a:prstGeom>
          <a:solidFill>
            <a:srgbClr val="8F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44768" y="2606040"/>
            <a:ext cx="2542032" cy="2468880"/>
          </a:xfrm>
          <a:prstGeom prst="roundRect">
            <a:avLst>
              <a:gd name="adj" fmla="val 7000"/>
            </a:avLst>
          </a:prstGeom>
          <a:solidFill>
            <a:srgbClr val="121212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770632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pace Grotes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46120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 i="0">
                <a:solidFill>
                  <a:srgbClr val="F8F6EE"/>
                </a:solidFill>
                <a:latin typeface="Space Grotesk"/>
              </a:rPr>
              <a:t>API calls</a:t>
            </a:r>
          </a:p>
          <a:p>
            <a:pPr algn="ctr">
              <a:lnSpc>
                <a:spcPct val="95000"/>
              </a:lnSpc>
            </a:pPr>
            <a:r>
              <a:rPr sz="1900" b="1" i="0">
                <a:solidFill>
                  <a:srgbClr val="F8F6EE"/>
                </a:solidFill>
                <a:latin typeface="Space Grotesk"/>
              </a:rPr>
              <a:t>(fail-fast)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114800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8880"/>
                </a:solidFill>
                <a:latin typeface="Space Grotesk"/>
              </a:rPr>
              <a:t>ACRCloud fingerprint ∥ private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8880"/>
                </a:solidFill>
                <a:latin typeface="Space Grotesk"/>
              </a:rPr>
              <a:t>registry ∥ commercial MIDI compare.</a:t>
            </a:r>
          </a:p>
        </p:txBody>
      </p:sp>
      <p:sp>
        <p:nvSpPr>
          <p:cNvPr id="20" name="Chevron 19"/>
          <p:cNvSpPr/>
          <p:nvPr/>
        </p:nvSpPr>
        <p:spPr>
          <a:xfrm>
            <a:off x="8668512" y="3694176"/>
            <a:ext cx="201168" cy="292608"/>
          </a:xfrm>
          <a:prstGeom prst="chevron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51392" y="2606040"/>
            <a:ext cx="2542032" cy="2468880"/>
          </a:xfrm>
          <a:prstGeom prst="roundRect">
            <a:avLst>
              <a:gd name="adj" fmla="val 7000"/>
            </a:avLst>
          </a:prstGeom>
          <a:solidFill>
            <a:srgbClr val="121212"/>
          </a:solidFill>
          <a:ln w="19050">
            <a:solidFill>
              <a:srgbClr val="9EF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7112" y="2770632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9EF7C9"/>
                </a:solidFill>
                <a:latin typeface="Space Grotes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3246120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 i="0">
                <a:solidFill>
                  <a:srgbClr val="F8F6EE"/>
                </a:solidFill>
                <a:latin typeface="Space Grotesk"/>
              </a:rPr>
              <a:t>Ultimate</a:t>
            </a:r>
          </a:p>
          <a:p>
            <a:pPr algn="ctr">
              <a:lnSpc>
                <a:spcPct val="95000"/>
              </a:lnSpc>
            </a:pPr>
            <a:r>
              <a:rPr sz="1900" b="1" i="0">
                <a:solidFill>
                  <a:srgbClr val="F8F6EE"/>
                </a:solidFill>
                <a:latin typeface="Space Grotesk"/>
              </a:rPr>
              <a:t>agent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4114800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8880"/>
                </a:solidFill>
                <a:latin typeface="Space Grotesk"/>
              </a:rPr>
              <a:t>Acoustic extraction + final report,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8880"/>
                </a:solidFill>
                <a:latin typeface="Space Grotesk"/>
              </a:rPr>
              <a:t>DON-signed TEE attestation.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ABD"/>
                </a:solidFill>
                <a:latin typeface="Space Grotesk"/>
              </a:rPr>
              <a:t>→ Only a CLEAN verdict is written on-chain (Registry callback). SIMILAR · REJECTED · ERROR never touch the chain.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8880"/>
                </a:solidFill>
                <a:latin typeface="Space Grotesk"/>
              </a:rPr>
              <a:t>ECHO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400800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8880"/>
                </a:solidFill>
                <a:latin typeface="Space Grotesk"/>
              </a:rPr>
              <a:t>CRE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5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50505"/>
                </a:solidFill>
                <a:latin typeface="Space Grotesk"/>
              </a:rPr>
              <a:t>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8F6EE"/>
                </a:solidFill>
                <a:latin typeface="Space Grotesk"/>
              </a:rPr>
              <a:t>Two layers keep the artist unlinkable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920240"/>
            <a:ext cx="1828800" cy="38100"/>
          </a:xfrm>
          <a:prstGeom prst="rect">
            <a:avLst/>
          </a:prstGeom>
          <a:solidFill>
            <a:srgbClr val="9EF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349240" cy="36576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9050">
            <a:solidFill>
              <a:srgbClr val="9EF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9EF7C9"/>
                </a:solidFill>
                <a:latin typeface="Space Grotesk"/>
              </a:rPr>
              <a:t>Payment escrow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004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8F6EE"/>
                </a:solidFill>
                <a:latin typeface="Instrument Serif"/>
              </a:rPr>
              <a:t>Confidential settlement, per track id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3904488"/>
            <a:ext cx="118872" cy="118872"/>
          </a:xfrm>
          <a:prstGeom prst="ellipse">
            <a:avLst/>
          </a:prstGeom>
          <a:solidFill>
            <a:srgbClr val="9EF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3840480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8F6EE"/>
                </a:solidFill>
                <a:latin typeface="Space Grotesk"/>
              </a:rPr>
              <a:t>LicenseEscrow holds funds against a track id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9EF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4443984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8F6EE"/>
                </a:solidFill>
                <a:latin typeface="Space Grotesk"/>
              </a:rPr>
              <a:t>Buyer pays, owner is paid — no public link to identity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5111496"/>
            <a:ext cx="118872" cy="118872"/>
          </a:xfrm>
          <a:prstGeom prst="ellipse">
            <a:avLst/>
          </a:prstGeom>
          <a:solidFill>
            <a:srgbClr val="9EF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5047488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8F6EE"/>
                </a:solidFill>
                <a:latin typeface="Space Grotesk"/>
              </a:rPr>
              <a:t>Release gated by the owner key signature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331720"/>
            <a:ext cx="5349240" cy="36576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9050">
            <a:solidFill>
              <a:srgbClr val="F59A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060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F59ABD"/>
                </a:solidFill>
                <a:latin typeface="Space Grotesk"/>
              </a:rPr>
              <a:t>Ephemeral owner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004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8F6EE"/>
                </a:solidFill>
                <a:latin typeface="Instrument Serif"/>
              </a:rPr>
              <a:t>Unlinkable on-chain, never stored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3904488"/>
            <a:ext cx="118872" cy="118872"/>
          </a:xfrm>
          <a:prstGeom prst="ellipse">
            <a:avLst/>
          </a:prstGeom>
          <a:solidFill>
            <a:srgbClr val="F5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3448" y="3840480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8F6EE"/>
                </a:solidFill>
                <a:latin typeface="Space Grotesk"/>
              </a:rPr>
              <a:t>Deterministic key derived from a wallet signature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07992"/>
            <a:ext cx="118872" cy="118872"/>
          </a:xfrm>
          <a:prstGeom prst="ellipse">
            <a:avLst/>
          </a:prstGeom>
          <a:solidFill>
            <a:srgbClr val="F5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4443984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8F6EE"/>
                </a:solidFill>
                <a:latin typeface="Space Grotesk"/>
              </a:rPr>
              <a:t>On-chain owner ≠ artist's real wallet (unlinkable)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5111496"/>
            <a:ext cx="118872" cy="118872"/>
          </a:xfrm>
          <a:prstGeom prst="ellipse">
            <a:avLst/>
          </a:prstGeom>
          <a:solidFill>
            <a:srgbClr val="F5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5047488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8F6EE"/>
                </a:solidFill>
                <a:latin typeface="Space Grotesk"/>
              </a:rPr>
              <a:t>Re-derivable anytime; same model as Unlink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8880"/>
                </a:solidFill>
                <a:latin typeface="Space Grotesk"/>
              </a:rPr>
              <a:t>ECHO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400800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8880"/>
                </a:solidFill>
                <a:latin typeface="Space Grotesk"/>
              </a:rPr>
              <a:t>Privacy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